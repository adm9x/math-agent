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9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9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9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9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F46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5486400" cy="6858000"/>
          </a:xfrm>
          <a:prstGeom prst="roundRect">
            <a:avLst/>
          </a:prstGeom>
          <a:solidFill>
            <a:srgbClr val="635B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微软雅黑"/>
              </a:defRPr>
            </a:pPr>
            <a:r>
              <a:t>「数学小探险」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926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C7D2FE"/>
                </a:solidFill>
                <a:latin typeface="微软雅黑"/>
              </a:defRPr>
            </a:pPr>
            <a:r>
              <a:t>基于大模型的小学数学动态演示与智能导学系统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5B4FC"/>
                </a:solidFill>
                <a:latin typeface="微软雅黑"/>
              </a:defRPr>
            </a:pPr>
            <a:r>
              <a:t>2026年甘肃省科创大赛 | 创AI（教育智能体）| 小学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7D2FE"/>
                </a:solidFill>
                <a:latin typeface="微软雅黑"/>
              </a:defRPr>
            </a:pPr>
            <a:r>
              <a:t>教师人工智能应用案例征集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8521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5B4FC"/>
                </a:solidFill>
                <a:latin typeface="微软雅黑"/>
              </a:defRPr>
            </a:pPr>
            <a:r>
              <a:t>2026年5月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3730B8"/>
                </a:solidFill>
                <a:latin typeface="微软雅黑"/>
              </a:defRPr>
            </a:pPr>
            <a:r>
              <a:t>演示内容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2495" y="1645920"/>
            <a:ext cx="916305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4F46E5"/>
                </a:solidFill>
                <a:latin typeface="微软雅黑"/>
              </a:defRPr>
            </a:pPr>
            <a:r>
              <a:t>01</a:t>
            </a:r>
          </a:p>
        </p:txBody>
      </p:sp>
      <p:sp>
        <p:nvSpPr>
          <p:cNvPr id="4" name="Rectangle 3"/>
          <p:cNvSpPr/>
          <p:nvPr/>
        </p:nvSpPr>
        <p:spPr>
          <a:xfrm>
            <a:off x="2011680" y="1737360"/>
            <a:ext cx="38100" cy="5486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377440" y="16459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E293B"/>
                </a:solidFill>
                <a:latin typeface="微软雅黑"/>
              </a:defRPr>
            </a:pPr>
            <a:r>
              <a:t>案例概述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77440" y="21488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微软雅黑"/>
              </a:defRPr>
            </a:pPr>
            <a:r>
              <a:t>应用场景与解决的教学问题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7895" y="3108960"/>
            <a:ext cx="890905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4F46E5"/>
                </a:solidFill>
                <a:latin typeface="微软雅黑"/>
              </a:defRPr>
            </a:pPr>
            <a:r>
              <a:t>02</a:t>
            </a:r>
          </a:p>
        </p:txBody>
      </p:sp>
      <p:sp>
        <p:nvSpPr>
          <p:cNvPr id="8" name="Rectangle 7"/>
          <p:cNvSpPr/>
          <p:nvPr/>
        </p:nvSpPr>
        <p:spPr>
          <a:xfrm>
            <a:off x="2011680" y="3200400"/>
            <a:ext cx="38100" cy="5486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377440" y="31089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E293B"/>
                </a:solidFill>
                <a:latin typeface="微软雅黑"/>
              </a:defRPr>
            </a:pPr>
            <a:r>
              <a:t>实现功能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36118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微软雅黑"/>
              </a:defRPr>
            </a:pPr>
            <a:r>
              <a:t>四大模块操作演示（几何图形 | 分数认识 | 平移旋转 | 线段图）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7895" y="4572000"/>
            <a:ext cx="890905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4F46E5"/>
                </a:solidFill>
                <a:latin typeface="微软雅黑"/>
              </a:defRPr>
            </a:pPr>
            <a: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011680" y="4663440"/>
            <a:ext cx="38100" cy="5486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77440" y="45720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E293B"/>
                </a:solidFill>
                <a:latin typeface="微软雅黑"/>
              </a:defRPr>
            </a:pPr>
            <a:r>
              <a:t>应用情况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77440" y="50749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微软雅黑"/>
              </a:defRPr>
            </a:pPr>
            <a:r>
              <a:t>教学成效与影响力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  <a:latin typeface="微软雅黑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3730B8"/>
                </a:solidFill>
                <a:latin typeface="微软雅黑"/>
              </a:defRPr>
            </a:pPr>
            <a:r>
              <a:t>一、案例概述 —— 教学痛点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371600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260604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2606040" cy="50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508760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730B8"/>
                </a:solidFill>
                <a:latin typeface="微软雅黑"/>
              </a:defRPr>
            </a:pPr>
            <a:r>
              <a:t>静态图示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20"/>
            <a:ext cx="21488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微软雅黑"/>
              </a:defRPr>
            </a:pPr>
            <a:r>
              <a:t>课本和课件中的图形</a:t>
            </a:r>
            <a:br/>
            <a:r>
              <a:t>学生只能看不能动</a:t>
            </a:r>
            <a:br/>
            <a:r>
              <a:t>缺乏操作—反馈闭环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1371600"/>
            <a:ext cx="260604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383280" y="1371600"/>
            <a:ext cx="2606040" cy="50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11880" y="1508760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730B8"/>
                </a:solidFill>
                <a:latin typeface="微软雅黑"/>
              </a:defRPr>
            </a:pPr>
            <a:r>
              <a:t>实物教具局限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1880" y="1874520"/>
            <a:ext cx="21488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微软雅黑"/>
              </a:defRPr>
            </a:pPr>
            <a:r>
              <a:t>三角板、分数圆片等</a:t>
            </a:r>
            <a:br/>
            <a:r>
              <a:t>受数量和精度限制</a:t>
            </a:r>
            <a:br/>
            <a:r>
              <a:t>难以支持自由探索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371600"/>
            <a:ext cx="260604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371600"/>
            <a:ext cx="2606040" cy="50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1508760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730B8"/>
                </a:solidFill>
                <a:latin typeface="微软雅黑"/>
              </a:defRPr>
            </a:pPr>
            <a:r>
              <a:t>动画被动观看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1874520"/>
            <a:ext cx="21488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微软雅黑"/>
              </a:defRPr>
            </a:pPr>
            <a:r>
              <a:t>PPT动画本质是播放</a:t>
            </a:r>
            <a:br/>
            <a:r>
              <a:t>学生被动接受</a:t>
            </a:r>
            <a:br/>
            <a:r>
              <a:t>缺乏主动探究机会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52560" y="1371600"/>
            <a:ext cx="260604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052560" y="1371600"/>
            <a:ext cx="2606040" cy="50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81160" y="1508760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730B8"/>
                </a:solidFill>
                <a:latin typeface="微软雅黑"/>
              </a:defRPr>
            </a:pPr>
            <a:r>
              <a:t>分层指导不足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81160" y="1874520"/>
            <a:ext cx="21488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微软雅黑"/>
              </a:defRPr>
            </a:pPr>
            <a:r>
              <a:t>40分钟课堂30+学生</a:t>
            </a:r>
            <a:br/>
            <a:r>
              <a:t>教师难以兼顾不同认知节奏</a:t>
            </a:r>
            <a:br/>
            <a:r>
              <a:t>个别化引导严重不足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663440"/>
            <a:ext cx="1051560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4846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730B8"/>
                </a:solidFill>
                <a:latin typeface="微软雅黑"/>
              </a:defRPr>
            </a:pPr>
            <a:r>
              <a:t>核心矛盾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5394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E293B"/>
                </a:solidFill>
                <a:latin typeface="微软雅黑"/>
              </a:defRPr>
            </a:pPr>
            <a:r>
              <a:t>小学生处于「具体运算」向「形式运算」过渡期，离不开具体操作支持</a:t>
            </a:r>
            <a:br/>
            <a:r>
              <a:t>但传统教学手段无法同时满足「可交互操作 + 个性化引导」两个条件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  <a:latin typeface="微软雅黑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3730B8"/>
                </a:solidFill>
                <a:latin typeface="微软雅黑"/>
              </a:defRPr>
            </a:pPr>
            <a:r>
              <a:t>一、案例概述 —— 解决方案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371600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3520440" cy="2377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293B"/>
                </a:solidFill>
                <a:latin typeface="微软雅黑"/>
              </a:defRPr>
            </a:pPr>
            <a:r>
              <a:t>Canvas 动态演示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03120"/>
            <a:ext cx="2926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微软雅黑"/>
              </a:defRPr>
            </a:pPr>
            <a:r>
              <a:t>四大模块覆盖几何图形、分数认识</a:t>
            </a:r>
            <a:br/>
            <a:r>
              <a:t>平移旋转、线段图</a:t>
            </a:r>
            <a:br/>
            <a:r>
              <a:t>学生自由拖拽操作，实时反馈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79" y="1371600"/>
            <a:ext cx="3520440" cy="2377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1999" y="15544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293B"/>
                </a:solidFill>
                <a:latin typeface="微软雅黑"/>
              </a:defRPr>
            </a:pPr>
            <a:r>
              <a:t>AI 智能导学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1999" y="2103120"/>
            <a:ext cx="2926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微软雅黑"/>
              </a:defRPr>
            </a:pPr>
            <a:r>
              <a:t>DeepSeek 大模型担任</a:t>
            </a:r>
            <a:br/>
            <a:r>
              <a:t>苏格拉底式引导者</a:t>
            </a:r>
            <a:br/>
            <a:r>
              <a:t>根据操作实时生成针对性引导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19" y="1371600"/>
            <a:ext cx="3520440" cy="2377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39" y="15544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293B"/>
                </a:solidFill>
                <a:latin typeface="微软雅黑"/>
              </a:defRPr>
            </a:pPr>
            <a:r>
              <a:t>操作即对话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39" y="2103120"/>
            <a:ext cx="2926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微软雅黑"/>
              </a:defRPr>
            </a:pPr>
            <a:r>
              <a:t>学生操作驱动 LLM 响应</a:t>
            </a:r>
            <a:br/>
            <a:r>
              <a:t>形成「动手→思考→反馈」探究闭环</a:t>
            </a:r>
            <a:br/>
            <a:r>
              <a:t>建构主义 + 生成式AI深度融合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1148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730B8"/>
                </a:solidFill>
                <a:latin typeface="微软雅黑"/>
              </a:defRPr>
            </a:pPr>
            <a:r>
              <a:t>AI 导学的五种角色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663440"/>
            <a:ext cx="210312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4663440"/>
            <a:ext cx="2103120" cy="508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8006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730B8"/>
                </a:solidFill>
                <a:latin typeface="微软雅黑"/>
              </a:defRPr>
            </a:pPr>
            <a:r>
              <a:t>操作引导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5166360"/>
            <a:ext cx="1645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微软雅黑"/>
              </a:defRPr>
            </a:pPr>
            <a:r>
              <a:t>拖拽顶点后</a:t>
            </a:r>
            <a:br/>
            <a:r>
              <a:t>LLM追问观察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834640" y="4663440"/>
            <a:ext cx="210312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834640" y="4663440"/>
            <a:ext cx="2103120" cy="508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063240" y="48006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730B8"/>
                </a:solidFill>
                <a:latin typeface="微软雅黑"/>
              </a:defRPr>
            </a:pPr>
            <a:r>
              <a:t>错误诊断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63240" y="5166360"/>
            <a:ext cx="1645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微软雅黑"/>
              </a:defRPr>
            </a:pPr>
            <a:r>
              <a:t>识别整数负迁移</a:t>
            </a:r>
            <a:br/>
            <a:r>
              <a:t>引导操作验证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120640" y="4663440"/>
            <a:ext cx="210312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120640" y="4663440"/>
            <a:ext cx="2103120" cy="508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49240" y="48006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730B8"/>
                </a:solidFill>
                <a:latin typeface="微软雅黑"/>
              </a:defRPr>
            </a:pPr>
            <a:r>
              <a:t>自适应出题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49240" y="5166360"/>
            <a:ext cx="1645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微软雅黑"/>
              </a:defRPr>
            </a:pPr>
            <a:r>
              <a:t>动态生成</a:t>
            </a:r>
            <a:br/>
            <a:r>
              <a:t>合适难度追问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06640" y="4663440"/>
            <a:ext cx="210312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406640" y="4663440"/>
            <a:ext cx="2103120" cy="508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35240" y="48006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730B8"/>
                </a:solidFill>
                <a:latin typeface="微软雅黑"/>
              </a:defRPr>
            </a:pPr>
            <a:r>
              <a:t>概念翻译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35240" y="5166360"/>
            <a:ext cx="1645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微软雅黑"/>
              </a:defRPr>
            </a:pPr>
            <a:r>
              <a:t>用「份数」「转圈」</a:t>
            </a:r>
            <a:br/>
            <a:r>
              <a:t>替代抽象术语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692640" y="4663440"/>
            <a:ext cx="210312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692640" y="4663440"/>
            <a:ext cx="2103120" cy="508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921240" y="48006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730B8"/>
                </a:solidFill>
                <a:latin typeface="微软雅黑"/>
              </a:defRPr>
            </a:pPr>
            <a:r>
              <a:t>探究激发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921240" y="5166360"/>
            <a:ext cx="1645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微软雅黑"/>
              </a:defRPr>
            </a:pPr>
            <a:r>
              <a:t>发现等腰三角形</a:t>
            </a:r>
            <a:br/>
            <a:r>
              <a:t>追问底角规律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  <a:latin typeface="微软雅黑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3730B8"/>
                </a:solidFill>
                <a:latin typeface="微软雅黑"/>
              </a:defRPr>
            </a:pPr>
            <a:r>
              <a:t>一、案例概述 —— 技术架构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371600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1371600"/>
            <a:ext cx="63500" cy="9601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188720" y="1371600"/>
            <a:ext cx="1024128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63040" y="144475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F46E5"/>
                </a:solidFill>
                <a:latin typeface="微软雅黑"/>
              </a:defRPr>
            </a:pPr>
            <a:r>
              <a:t>前端层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82880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微软雅黑"/>
              </a:defRPr>
            </a:pPr>
            <a:r>
              <a:t>HTML5 + CSS3 + Vanilla JS | 零框架依赖 | 一个链接即用 | 响应式布局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606040"/>
            <a:ext cx="63500" cy="9601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188720" y="2606040"/>
            <a:ext cx="1024128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63040" y="267919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59669"/>
                </a:solidFill>
                <a:latin typeface="微软雅黑"/>
              </a:defRPr>
            </a:pPr>
            <a:r>
              <a:t>Canvas 引擎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06324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微软雅黑"/>
              </a:defRPr>
            </a:pPr>
            <a:r>
              <a:t>坐标变换 | 拖拽检测 | 动画循环 | 通用绘图工具 | 鼠标+触摸支持 | 2D/3D渲染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3840480"/>
            <a:ext cx="63500" cy="9601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188720" y="3840480"/>
            <a:ext cx="1024128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63040" y="391363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8B5CF6"/>
                </a:solidFill>
                <a:latin typeface="微软雅黑"/>
              </a:defRPr>
            </a:pPr>
            <a:r>
              <a:t>LLM 导学层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429768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微软雅黑"/>
              </a:defRPr>
            </a:pPr>
            <a:r>
              <a:t>DeepSeek API (deepseek-v4-flash) | 专属 System Prompt x4 | 操作状态序列化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5074920"/>
            <a:ext cx="63500" cy="9601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188720" y="5074920"/>
            <a:ext cx="1024128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63040" y="514807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9E0B"/>
                </a:solidFill>
                <a:latin typeface="微软雅黑"/>
              </a:defRPr>
            </a:pPr>
            <a:r>
              <a:t>四大教学模块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553212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微软雅黑"/>
              </a:defRPr>
            </a:pPr>
            <a:r>
              <a:t>几何图形 | 分数认识 | 平移旋转 | 线段图   每个模块: init → render → interact → getState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微软雅黑"/>
              </a:defRPr>
            </a:pPr>
            <a:r>
              <a:t>全链路国产化：DeepSeek 国产大模型 + 纯前端架构 + 静态文件托管  |  API 成本约 ¥0.005/次对话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  <a:latin typeface="微软雅黑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3730B8"/>
                </a:solidFill>
                <a:latin typeface="微软雅黑"/>
              </a:defRPr>
            </a:pPr>
            <a:r>
              <a:t>二、实现功能 —— 模块一：几何图形探索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371600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303520" cy="2011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5303520" cy="508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002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F46E5"/>
                </a:solidFill>
                <a:latin typeface="微软雅黑"/>
              </a:defRPr>
            </a:pPr>
            <a:r>
              <a:t>平面图形（4种）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057400"/>
            <a:ext cx="4846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微软雅黑"/>
              </a:defRPr>
            </a:pPr>
            <a:r>
              <a:t>三角形 | 四边形 | 长方形 | 平行四边形</a:t>
            </a:r>
            <a:br/>
            <a:r>
              <a:t>拖拽顶点变形 | 角度/边长实时计算</a:t>
            </a:r>
            <a:br/>
            <a:r>
              <a:t>长方形自动保持直角 | 平行四边形对边约束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657600"/>
            <a:ext cx="5303520" cy="2011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3657600"/>
            <a:ext cx="5303520" cy="508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886200"/>
            <a:ext cx="484632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F46E5"/>
                </a:solidFill>
                <a:latin typeface="微软雅黑"/>
              </a:defRPr>
            </a:pPr>
            <a:r>
              <a:t>立体图形（</a:t>
            </a:r>
            <a:r>
              <a:rPr lang="en-US"/>
              <a:t>5</a:t>
            </a:r>
            <a:r>
              <a:t>种）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343400"/>
            <a:ext cx="4846320" cy="6915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微软雅黑"/>
              </a:defRPr>
            </a:pPr>
            <a:r>
              <a:t>正方体 | 长方体 | 圆柱 | </a:t>
            </a:r>
            <a:r>
              <a:rPr lang="zh-CN"/>
              <a:t>圆锥</a:t>
            </a:r>
            <a:r>
              <a:rPr lang="en-US" altLang="zh-CN"/>
              <a:t> </a:t>
            </a:r>
            <a:r>
              <a:rPr>
                <a:sym typeface="+mn-ea"/>
              </a:rPr>
              <a:t>| </a:t>
            </a:r>
            <a:r>
              <a:t>球体</a:t>
            </a:r>
            <a:br/>
            <a:r>
              <a:t>旋转矩阵 3D→2D 等距投影</a:t>
            </a:r>
            <a:br/>
            <a:r>
              <a:t>拖拽旋转观察不同角度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1371600"/>
            <a:ext cx="5303520" cy="25603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228600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4748B"/>
                </a:solidFill>
                <a:latin typeface="微软雅黑"/>
              </a:defRPr>
            </a:pPr>
            <a:r>
              <a:t>[操作演示截图]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4389120"/>
            <a:ext cx="5303520" cy="146304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0" y="448056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F46E5"/>
                </a:solidFill>
                <a:latin typeface="微软雅黑"/>
              </a:defRPr>
            </a:pPr>
            <a:r>
              <a:t>AI 智能导学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4846320"/>
            <a:ext cx="4754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微软雅黑"/>
              </a:defRPr>
            </a:pPr>
            <a:r>
              <a:t>学生拖出等腰三角形 → AI:「两个底角总是一样大吗？再试试！」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6126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微软雅黑"/>
              </a:defRPr>
            </a:pPr>
            <a:r>
              <a:t>技术要点：Canvas 2D API | 旋转矩阵 3D 投影 | 操作状态 JSON 序列化 | System Prompt 工程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  <a:latin typeface="微软雅黑"/>
              </a:defRPr>
            </a:pPr>
            <a:r>
              <a:t>6</a:t>
            </a:r>
          </a:p>
        </p:txBody>
      </p:sp>
      <p:pic>
        <p:nvPicPr>
          <p:cNvPr id="19" name="Picture 18" descr="geom-2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371600"/>
            <a:ext cx="2606040" cy="1526531"/>
          </a:xfrm>
          <a:prstGeom prst="rect">
            <a:avLst/>
          </a:prstGeom>
        </p:spPr>
      </p:pic>
      <p:pic>
        <p:nvPicPr>
          <p:cNvPr id="20" name="Picture 19" descr="geom-3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8280" y="1371600"/>
            <a:ext cx="2606040" cy="152653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3730B8"/>
                </a:solidFill>
                <a:latin typeface="微软雅黑"/>
              </a:defRPr>
            </a:pPr>
            <a:r>
              <a:t>二、实现功能 —— 模块二：分数认识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371600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303520" cy="2011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5303520" cy="508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002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59669"/>
                </a:solidFill>
                <a:latin typeface="微软雅黑"/>
              </a:defRPr>
            </a:pPr>
            <a:r>
              <a:t>单图模式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057400"/>
            <a:ext cx="4846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微软雅黑"/>
              </a:defRPr>
            </a:pPr>
            <a:r>
              <a:t>圆形/长方形 N 等分切分</a:t>
            </a:r>
            <a:br/>
            <a:r>
              <a:t>分母滑块 2-12 | 点击填色</a:t>
            </a:r>
            <a:br/>
            <a:r>
              <a:t>顶部面板显示分数值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657600"/>
            <a:ext cx="5303520" cy="2011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3657600"/>
            <a:ext cx="5303520" cy="508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8862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59669"/>
                </a:solidFill>
                <a:latin typeface="微软雅黑"/>
              </a:defRPr>
            </a:pPr>
            <a:r>
              <a:t>双图比较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343400"/>
            <a:ext cx="4846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微软雅黑"/>
              </a:defRPr>
            </a:pPr>
            <a:r>
              <a:t>左右并列两个图形独立操作</a:t>
            </a:r>
            <a:br/>
            <a:r>
              <a:t>直观比较 1/3 vs 1/4</a:t>
            </a:r>
            <a:br/>
            <a:r>
              <a:t>理解等值分数（2/4 = 4/8）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1371600"/>
            <a:ext cx="5303520" cy="25603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228600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4748B"/>
                </a:solidFill>
                <a:latin typeface="微软雅黑"/>
              </a:defRPr>
            </a:pPr>
            <a:r>
              <a:t>[操作演示截图]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4389120"/>
            <a:ext cx="5303520" cy="146304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0" y="448056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F46E5"/>
                </a:solidFill>
                <a:latin typeface="微软雅黑"/>
              </a:defRPr>
            </a:pPr>
            <a:r>
              <a:t>AI 智能导学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4846320"/>
            <a:ext cx="4754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微软雅黑"/>
              </a:defRPr>
            </a:pPr>
            <a:r>
              <a:t>学生认为 1/4 &gt; 1/3 → AI 识别整数负迁移:「分母不是比大小哦，分4份的每一份比分3份的更小」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6126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微软雅黑"/>
              </a:defRPr>
            </a:pPr>
            <a:r>
              <a:t>技术要点：Canvas 2D API | 旋转矩阵 3D 投影 | 操作状态 JSON 序列化 | System Prompt 工程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  <a:latin typeface="微软雅黑"/>
              </a:defRPr>
            </a:pPr>
            <a:r>
              <a:t>7</a:t>
            </a:r>
          </a:p>
        </p:txBody>
      </p:sp>
      <p:pic>
        <p:nvPicPr>
          <p:cNvPr id="19" name="Picture 18" descr="fra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371600"/>
            <a:ext cx="5303520" cy="310662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3730B8"/>
                </a:solidFill>
                <a:latin typeface="微软雅黑"/>
              </a:defRPr>
            </a:pPr>
            <a:r>
              <a:t>二、实现功能 —— 模块三：平移与旋转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371600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303520" cy="2011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5303520" cy="508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002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8B5CF6"/>
                </a:solidFill>
                <a:latin typeface="微软雅黑"/>
              </a:defRPr>
            </a:pPr>
            <a:r>
              <a:t>三种变换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057400"/>
            <a:ext cx="4846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微软雅黑"/>
              </a:defRPr>
            </a:pPr>
            <a:r>
              <a:t>平移：拖拽移动 | 虚线原始位置 | 位移箭头</a:t>
            </a:r>
            <a:br/>
            <a:r>
              <a:t>旋转：拖拽旋转手柄 | 角度实时变化</a:t>
            </a:r>
            <a:br/>
            <a:r>
              <a:t>对称：红色对称轴 + 镜像图形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657600"/>
            <a:ext cx="5303520" cy="2011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3657600"/>
            <a:ext cx="5303520" cy="508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8862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8B5CF6"/>
                </a:solidFill>
                <a:latin typeface="微软雅黑"/>
              </a:defRPr>
            </a:pPr>
            <a:r>
              <a:t>辅助功能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343400"/>
            <a:ext cx="4846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微软雅黑"/>
              </a:defRPr>
            </a:pPr>
            <a:r>
              <a:t>网格背景开关</a:t>
            </a:r>
            <a:br/>
            <a:r>
              <a:t>鼓励「先预测再操作验证」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1371600"/>
            <a:ext cx="5303520" cy="25603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228600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4748B"/>
                </a:solidFill>
                <a:latin typeface="微软雅黑"/>
              </a:defRPr>
            </a:pPr>
            <a:r>
              <a:t>[操作演示截图]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4389120"/>
            <a:ext cx="5303520" cy="146304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0" y="448056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F46E5"/>
                </a:solidFill>
                <a:latin typeface="微软雅黑"/>
              </a:defRPr>
            </a:pPr>
            <a:r>
              <a:t>AI 智能导学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4846320"/>
            <a:ext cx="4754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微软雅黑"/>
              </a:defRPr>
            </a:pPr>
            <a:r>
              <a:t>学生旋转 90° 后 → AI:「旋转后图形变了吗？形状、大小、方向，哪些变了哪些没变？」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6126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微软雅黑"/>
              </a:defRPr>
            </a:pPr>
            <a:r>
              <a:t>技术要点：Canvas 2D API | 旋转矩阵 3D 投影 | 操作状态 JSON 序列化 | System Prompt 工程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  <a:latin typeface="微软雅黑"/>
              </a:defRPr>
            </a:pPr>
            <a:r>
              <a:t>8</a:t>
            </a:r>
          </a:p>
        </p:txBody>
      </p:sp>
      <p:pic>
        <p:nvPicPr>
          <p:cNvPr id="19" name="Picture 18" descr="transf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371600"/>
            <a:ext cx="5303520" cy="310662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3730B8"/>
                </a:solidFill>
                <a:latin typeface="微软雅黑"/>
              </a:defRPr>
            </a:pPr>
            <a:r>
              <a:t>二、实现功能 —— 模块四：线段图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371600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303520" cy="2011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5303520" cy="508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002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97706"/>
                </a:solidFill>
                <a:latin typeface="微软雅黑"/>
              </a:defRPr>
            </a:pPr>
            <a:r>
              <a:t>线段操作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057400"/>
            <a:ext cx="4846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微软雅黑"/>
              </a:defRPr>
            </a:pPr>
            <a:r>
              <a:t>多段线段拖拽调整长度</a:t>
            </a:r>
            <a:br/>
            <a:r>
              <a:t>端点/中间双向调整</a:t>
            </a:r>
            <a:br/>
            <a:r>
              <a:t>比例关系自动计算显示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657600"/>
            <a:ext cx="5303520" cy="2011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3657600"/>
            <a:ext cx="5303520" cy="508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8862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97706"/>
                </a:solidFill>
                <a:latin typeface="微软雅黑"/>
              </a:defRPr>
            </a:pPr>
            <a:r>
              <a:t>解题引导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343400"/>
            <a:ext cx="4846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微软雅黑"/>
              </a:defRPr>
            </a:pPr>
            <a:r>
              <a:t>添加线段 | 对齐吸附模式</a:t>
            </a:r>
            <a:br/>
            <a:r>
              <a:t>「画图→分析→列式」解题思维</a:t>
            </a:r>
            <a:br/>
            <a:r>
              <a:t>用线段图检验算式正确性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1371600"/>
            <a:ext cx="5303520" cy="25603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228600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4748B"/>
                </a:solidFill>
                <a:latin typeface="微软雅黑"/>
              </a:defRPr>
            </a:pPr>
            <a:r>
              <a:t>[操作演示截图]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4389120"/>
            <a:ext cx="5303520" cy="146304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0" y="448056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F46E5"/>
                </a:solidFill>
                <a:latin typeface="微软雅黑"/>
              </a:defRPr>
            </a:pPr>
            <a:r>
              <a:t>AI 智能导学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4846320"/>
            <a:ext cx="4754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微软雅黑"/>
              </a:defRPr>
            </a:pPr>
            <a:r>
              <a:t>线段比 3:1 → AI:「甲是乙的3倍，甲+乙=36，每份是多少？甲占几份？」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6126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微软雅黑"/>
              </a:defRPr>
            </a:pPr>
            <a:r>
              <a:t>技术要点：Canvas 2D API | 旋转矩阵 3D 投影 | 操作状态 JSON 序列化 | System Prompt 工程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  <a:latin typeface="微软雅黑"/>
              </a:defRPr>
            </a:pPr>
            <a:r>
              <a:t>9</a:t>
            </a:r>
          </a:p>
        </p:txBody>
      </p:sp>
      <p:pic>
        <p:nvPicPr>
          <p:cNvPr id="19" name="Picture 18" descr="seg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371600"/>
            <a:ext cx="5303520" cy="310662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3730B8"/>
                </a:solidFill>
                <a:latin typeface="微软雅黑"/>
              </a:defRPr>
            </a:pPr>
            <a:r>
              <a:t>二、实现功能 —— System Prompt 工程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371600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269748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2697480" cy="50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508760"/>
            <a:ext cx="2240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730B8"/>
                </a:solidFill>
                <a:latin typeface="微软雅黑"/>
              </a:defRPr>
            </a:pPr>
            <a:r>
              <a:t>几何图形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874520"/>
            <a:ext cx="22402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微软雅黑"/>
              </a:defRPr>
            </a:pPr>
            <a:r>
              <a:t>关注角度和边长的变化规律</a:t>
            </a:r>
            <a:br/>
            <a:r>
              <a:t>用「角的大小」替代「角度度数」</a:t>
            </a:r>
            <a:br/>
            <a:r>
              <a:t>引导观察等腰三角形的底角相等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37560" y="1371600"/>
            <a:ext cx="269748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337560" y="1371600"/>
            <a:ext cx="2697480" cy="50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66160" y="1508760"/>
            <a:ext cx="2240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730B8"/>
                </a:solidFill>
                <a:latin typeface="微软雅黑"/>
              </a:defRPr>
            </a:pPr>
            <a:r>
              <a:t>分数认识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1874520"/>
            <a:ext cx="22402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微软雅黑"/>
              </a:defRPr>
            </a:pPr>
            <a:r>
              <a:t>关注份数含义 + 整数负迁移识别</a:t>
            </a:r>
            <a:br/>
            <a:r>
              <a:t>用「份数」「涂色」替代「分子」「分母」</a:t>
            </a:r>
            <a:br/>
            <a:r>
              <a:t>引导学生用操作验证自己的想法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371600"/>
            <a:ext cx="269748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371600"/>
            <a:ext cx="2697480" cy="50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1508760"/>
            <a:ext cx="2240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730B8"/>
                </a:solidFill>
                <a:latin typeface="微软雅黑"/>
              </a:defRPr>
            </a:pPr>
            <a:r>
              <a:t>平移旋转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1874520"/>
            <a:ext cx="22402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微软雅黑"/>
              </a:defRPr>
            </a:pPr>
            <a:r>
              <a:t>比较变换前后「什么变了，什么没变」</a:t>
            </a:r>
            <a:br/>
            <a:r>
              <a:t>鼓励「先预测再操作验证」</a:t>
            </a:r>
            <a:br/>
            <a:r>
              <a:t>网格辅助精确观察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98280" y="1371600"/>
            <a:ext cx="269748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098280" y="1371600"/>
            <a:ext cx="2697480" cy="50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26880" y="1508760"/>
            <a:ext cx="2240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730B8"/>
                </a:solidFill>
                <a:latin typeface="微软雅黑"/>
              </a:defRPr>
            </a:pPr>
            <a:r>
              <a:t>线段图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0" y="1874520"/>
            <a:ext cx="22402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微软雅黑"/>
              </a:defRPr>
            </a:pPr>
            <a:r>
              <a:t>培养「画图→分析→列式」解题思维</a:t>
            </a:r>
            <a:br/>
            <a:r>
              <a:t>用线段图检验算式正确性</a:t>
            </a:r>
            <a:br/>
            <a:r>
              <a:t>自动出题适应学生水平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663440"/>
            <a:ext cx="10515600" cy="18288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475488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A5B4FC"/>
                </a:solidFill>
                <a:latin typeface="微软雅黑"/>
              </a:defRPr>
            </a:pPr>
            <a:r>
              <a:t>System Prompt 片段（分数模块）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5120640"/>
            <a:ext cx="10058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7D2FE"/>
                </a:solidFill>
                <a:latin typeface="微软雅黑"/>
              </a:defRPr>
            </a:pPr>
            <a:r>
              <a:t>你是小学数学智能导学助手「小Q」，你的角色是苏格拉底式引导者。</a:t>
            </a:r>
            <a:br/>
            <a:r>
              <a:t>当前模块：分数认识。学生可以在画布上切分图形、填色来探索分数。</a:t>
            </a:r>
            <a:br/>
            <a:r>
              <a:t>引导原则：不直接给答案 | 关注份数含义和等值分数 | 识别整数负迁移</a:t>
            </a:r>
            <a:br/>
            <a:r>
              <a:t>用「份数」「涂色部分」替代抽象术语 | 引导学生用操作验证自己的想法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  <a:latin typeface="微软雅黑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3730B8"/>
                </a:solidFill>
                <a:latin typeface="微软雅黑"/>
              </a:defRPr>
            </a:pPr>
            <a:r>
              <a:t>二、实现功能 —— 「用AI开发AI」开发范式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371600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2606040" cy="18288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463040" y="1097280"/>
            <a:ext cx="548640" cy="548640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0116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3730B8"/>
                </a:solidFill>
                <a:latin typeface="微软雅黑"/>
              </a:defRPr>
            </a:pPr>
            <a:r>
              <a:t>教师提需求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37744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微软雅黑"/>
              </a:defRPr>
            </a:pPr>
            <a:r>
              <a:t>自然语言描述</a:t>
            </a:r>
            <a:br/>
            <a:r>
              <a:t>教学交互需求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37560" y="1371600"/>
            <a:ext cx="2606040" cy="18288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343400" y="1097280"/>
            <a:ext cx="548640" cy="548640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20116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3730B8"/>
                </a:solidFill>
                <a:latin typeface="微软雅黑"/>
              </a:defRPr>
            </a:pPr>
            <a:r>
              <a:t>AI 生成代码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237744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微软雅黑"/>
              </a:defRPr>
            </a:pPr>
            <a:r>
              <a:t>DeepSeek 辅助</a:t>
            </a:r>
            <a:br/>
            <a:r>
              <a:t>Canvas 绘图算法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371600"/>
            <a:ext cx="2606040" cy="18288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223760" y="1097280"/>
            <a:ext cx="548640" cy="548640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0116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3730B8"/>
                </a:solidFill>
                <a:latin typeface="微软雅黑"/>
              </a:defRPr>
            </a:pPr>
            <a:r>
              <a:t>浏览器验证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37744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微软雅黑"/>
              </a:defRPr>
            </a:pPr>
            <a:r>
              <a:t>实时测试</a:t>
            </a:r>
            <a:br/>
            <a:r>
              <a:t>交互效果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98280" y="1371600"/>
            <a:ext cx="2606040" cy="18288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104120" y="1097280"/>
            <a:ext cx="548640" cy="548640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0" y="20116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3730B8"/>
                </a:solidFill>
                <a:latin typeface="微软雅黑"/>
              </a:defRPr>
            </a:pPr>
            <a:r>
              <a:t>对话迭代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0" y="237744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微软雅黑"/>
              </a:defRPr>
            </a:pPr>
            <a:r>
              <a:t>反馈问题</a:t>
            </a:r>
            <a:br/>
            <a:r>
              <a:t>AI 诊断修复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566160"/>
            <a:ext cx="2514600" cy="109728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3657600"/>
            <a:ext cx="251460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4F46E5"/>
                </a:solidFill>
                <a:latin typeface="微软雅黑"/>
              </a:defRPr>
            </a:pPr>
            <a:r>
              <a:t>约</a:t>
            </a:r>
            <a:r>
              <a:rPr lang="en-US"/>
              <a:t>6</a:t>
            </a:r>
            <a:r>
              <a:t>小时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160520"/>
            <a:ext cx="2514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微软雅黑"/>
              </a:defRPr>
            </a:pPr>
            <a:r>
              <a:t>总开发时间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566160" y="3566160"/>
            <a:ext cx="2514600" cy="109728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66160" y="3657600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4F46E5"/>
                </a:solidFill>
                <a:latin typeface="微软雅黑"/>
              </a:defRPr>
            </a:pPr>
            <a:r>
              <a:t>约80轮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66160" y="4160520"/>
            <a:ext cx="2514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微软雅黑"/>
              </a:defRPr>
            </a:pPr>
            <a:r>
              <a:t>AI对话轮次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0" y="3566160"/>
            <a:ext cx="2514600" cy="109728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0" y="3657600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4F46E5"/>
                </a:solidFill>
                <a:latin typeface="微软雅黑"/>
              </a:defRPr>
            </a:pPr>
            <a:r>
              <a:t>约85%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4160520"/>
            <a:ext cx="2514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微软雅黑"/>
              </a:defRPr>
            </a:pPr>
            <a:r>
              <a:t>AI生成代码占比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235440" y="3566160"/>
            <a:ext cx="2514600" cy="109728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235440" y="3657600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4F46E5"/>
                </a:solidFill>
                <a:latin typeface="微软雅黑"/>
              </a:defRPr>
            </a:pPr>
            <a:r>
              <a:t>约¥0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35440" y="4160520"/>
            <a:ext cx="2514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微软雅黑"/>
              </a:defRPr>
            </a:pPr>
            <a:r>
              <a:t>开发成本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4937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730B8"/>
                </a:solidFill>
                <a:latin typeface="微软雅黑"/>
              </a:defRPr>
            </a:pPr>
            <a:r>
              <a:t>代表性提示词示例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539496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微软雅黑"/>
              </a:defRPr>
            </a:pPr>
            <a:r>
              <a:t>「用Canvas绘制可拖拽顶点的三角形，实时计算角度和边长」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09359" y="539496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微软雅黑"/>
              </a:defRPr>
            </a:pPr>
            <a:r>
              <a:t>「实现圆形N等分的填色交互，支持点击切换」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580644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微软雅黑"/>
              </a:defRPr>
            </a:pPr>
            <a:r>
              <a:t>「用2D Canvas实现正方体的等距投影线框，支持拖拽旋转」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09359" y="580644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微软雅黑"/>
              </a:defRPr>
            </a:pPr>
            <a:r>
              <a:t>「如何设计System Prompt让AI扮演苏格拉底式导学角色？」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  <a:latin typeface="微软雅黑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3730B8"/>
                </a:solidFill>
                <a:latin typeface="微软雅黑"/>
              </a:defRPr>
            </a:pPr>
            <a:r>
              <a:t>三、应用情况 —— 教学成效与影响力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371600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352044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3520440" cy="508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508760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730B8"/>
                </a:solidFill>
                <a:latin typeface="微软雅黑"/>
              </a:defRPr>
            </a:pPr>
            <a:r>
              <a:t>课堂演示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20"/>
            <a:ext cx="3063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微软雅黑"/>
              </a:defRPr>
            </a:pPr>
            <a:r>
              <a:t>教师投屏操作</a:t>
            </a:r>
            <a:br/>
            <a:r>
              <a:t>全班讨论</a:t>
            </a:r>
            <a:br/>
            <a:r>
              <a:t>AI引导集体思考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79" y="1371600"/>
            <a:ext cx="352044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97679" y="1371600"/>
            <a:ext cx="3520440" cy="508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79" y="1508760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730B8"/>
                </a:solidFill>
                <a:latin typeface="微软雅黑"/>
              </a:defRPr>
            </a:pPr>
            <a:r>
              <a:t>自主探究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79" y="1874520"/>
            <a:ext cx="3063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微软雅黑"/>
              </a:defRPr>
            </a:pPr>
            <a:r>
              <a:t>学生平板上独立操作</a:t>
            </a:r>
            <a:br/>
            <a:r>
              <a:t>AI一对一导学</a:t>
            </a:r>
            <a:br/>
            <a:r>
              <a:t>个性化认知节奏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19" y="1371600"/>
            <a:ext cx="352044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46719" y="1371600"/>
            <a:ext cx="3520440" cy="508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5319" y="1508760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730B8"/>
                </a:solidFill>
                <a:latin typeface="微软雅黑"/>
              </a:defRPr>
            </a:pPr>
            <a:r>
              <a:t>课后辅导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19" y="1874520"/>
            <a:ext cx="3063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微软雅黑"/>
              </a:defRPr>
            </a:pPr>
            <a:r>
              <a:t>学生在家练习</a:t>
            </a:r>
            <a:br/>
            <a:r>
              <a:t>系统自动诊断薄弱点</a:t>
            </a:r>
            <a:br/>
            <a:r>
              <a:t>无需家长辅导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4747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730B8"/>
                </a:solidFill>
                <a:latin typeface="微软雅黑"/>
              </a:defRPr>
            </a:pPr>
            <a:r>
              <a:t>预期教学效果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023360"/>
            <a:ext cx="260604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4023360"/>
            <a:ext cx="2606040" cy="508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4160520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730B8"/>
                </a:solidFill>
                <a:latin typeface="微软雅黑"/>
              </a:defRPr>
            </a:pPr>
            <a:r>
              <a:t>学习兴趣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526280"/>
            <a:ext cx="2148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微软雅黑"/>
              </a:defRPr>
            </a:pPr>
            <a:r>
              <a:t>拖拽交互+AI对话</a:t>
            </a:r>
            <a:br/>
            <a:r>
              <a:t>参与度提升3-5倍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383280" y="4023360"/>
            <a:ext cx="260604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383280" y="4023360"/>
            <a:ext cx="2606040" cy="508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11880" y="4160520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730B8"/>
                </a:solidFill>
                <a:latin typeface="微软雅黑"/>
              </a:defRPr>
            </a:pPr>
            <a:r>
              <a:t>概念理解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11880" y="4526280"/>
            <a:ext cx="2148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微软雅黑"/>
              </a:defRPr>
            </a:pPr>
            <a:r>
              <a:t>手-眼-脑联结</a:t>
            </a:r>
            <a:br/>
            <a:r>
              <a:t>探究中建立数学直觉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4023360"/>
            <a:ext cx="260604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17920" y="4023360"/>
            <a:ext cx="2606040" cy="508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46520" y="4160520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730B8"/>
                </a:solidFill>
                <a:latin typeface="微软雅黑"/>
              </a:defRPr>
            </a:pPr>
            <a:r>
              <a:t>教师减负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46520" y="4526280"/>
            <a:ext cx="2148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微软雅黑"/>
              </a:defRPr>
            </a:pPr>
            <a:r>
              <a:t>自动出题+诊断</a:t>
            </a:r>
            <a:br/>
            <a:r>
              <a:t>减轻备课批改负担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052560" y="4023360"/>
            <a:ext cx="260604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052560" y="4023360"/>
            <a:ext cx="2606040" cy="508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281160" y="4160520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730B8"/>
                </a:solidFill>
                <a:latin typeface="微软雅黑"/>
              </a:defRPr>
            </a:pPr>
            <a:r>
              <a:t>成本极低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81160" y="4526280"/>
            <a:ext cx="2148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微软雅黑"/>
              </a:defRPr>
            </a:pPr>
            <a:r>
              <a:t>开发零成本</a:t>
            </a:r>
            <a:br/>
            <a:r>
              <a:t>每节课 &lt; ¥0.05/人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1520" y="5943600"/>
            <a:ext cx="10515600" cy="64008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97280" y="598932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微软雅黑"/>
              </a:defRPr>
            </a:pPr>
            <a:r>
              <a:t>纯前端零部署 | 开源可复现 | 全链路国产化 | 遵守《生成式人工智能服务管理暂行办法》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  <a:latin typeface="微软雅黑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3730B8"/>
                </a:solidFill>
                <a:latin typeface="微软雅黑"/>
              </a:defRPr>
            </a:pPr>
            <a:r>
              <a:t>四、创新与反思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371600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63500" cy="10058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4F46E5"/>
                </a:solidFill>
                <a:latin typeface="微软雅黑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4173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293B"/>
                </a:solidFill>
                <a:latin typeface="微软雅黑"/>
              </a:defRPr>
            </a:pPr>
            <a:r>
              <a:t>操作即对话闭环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828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微软雅黑"/>
              </a:defRPr>
            </a:pPr>
            <a:r>
              <a:t>学生操作驱动 LLM 响应，形成「动手→思考→反馈→再动手」探究循环</a:t>
            </a:r>
            <a:br/>
            <a:r>
              <a:t>建构主义学习理论与生成式AI能力的深度融合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560320"/>
            <a:ext cx="63500" cy="10058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7432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4F46E5"/>
                </a:solidFill>
                <a:latin typeface="微软雅黑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6060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293B"/>
                </a:solidFill>
                <a:latin typeface="微软雅黑"/>
              </a:defRPr>
            </a:pPr>
            <a:r>
              <a:t>用AI开发AI工具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30175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微软雅黑"/>
              </a:defRPr>
            </a:pPr>
            <a:r>
              <a:t>教师借助 DeepSeek 辅助编码跨越「懂教学但不会编程」鸿沟</a:t>
            </a:r>
            <a:br/>
            <a:r>
              <a:t>本身就是「创AI」理念的最佳实践案例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3749039"/>
            <a:ext cx="63500" cy="10058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931919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4F46E5"/>
                </a:solidFill>
                <a:latin typeface="微软雅黑"/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3794759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293B"/>
                </a:solidFill>
                <a:latin typeface="微软雅黑"/>
              </a:defRPr>
            </a:pPr>
            <a:r>
              <a:t>苏格拉底式导学角色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4206239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微软雅黑"/>
              </a:defRPr>
            </a:pPr>
            <a:r>
              <a:t>精心设计 System Prompt，让 LLM 从「答案机器」变为「引导者」</a:t>
            </a:r>
            <a:br/>
            <a:r>
              <a:t>不直接给答案，用提问激发自主思考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4937760"/>
            <a:ext cx="63500" cy="10058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51206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4F46E5"/>
                </a:solidFill>
                <a:latin typeface="微软雅黑"/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498348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293B"/>
                </a:solidFill>
                <a:latin typeface="微软雅黑"/>
              </a:defRPr>
            </a:pPr>
            <a:r>
              <a:t>纯前端零部署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53949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微软雅黑"/>
              </a:defRPr>
            </a:pPr>
            <a:r>
              <a:t>HTML/JS 单文件架构，浏览器打开即用</a:t>
            </a:r>
            <a:br/>
            <a:r>
              <a:t>对学校 IT 环境零依赖，其他教师可轻松复用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6126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微软雅黑"/>
              </a:defRPr>
            </a:pPr>
            <a:r>
              <a:t>未来改进：语音交互 | 学习数据看板 | 多语言支持 | 题库联动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  <a:latin typeface="微软雅黑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F46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微软雅黑"/>
              </a:defRPr>
            </a:pPr>
            <a:r>
              <a:t>谢谢观看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2918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C7D2FE"/>
                </a:solidFill>
                <a:latin typeface="微软雅黑"/>
              </a:defRPr>
            </a:pPr>
            <a:r>
              <a:t>「数学小探险」——基于大模型的小学数学动态演示与智能导学系统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2062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5B4FC"/>
                </a:solidFill>
                <a:latin typeface="微软雅黑"/>
              </a:defRPr>
            </a:pPr>
            <a:r>
              <a:t>2026年甘肃省科创大赛 | 创AI（教育智能体）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0" y="4937760"/>
            <a:ext cx="3017520" cy="12700"/>
          </a:xfrm>
          <a:prstGeom prst="rect">
            <a:avLst/>
          </a:prstGeom>
          <a:solidFill>
            <a:srgbClr val="A5B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52120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7D2FE"/>
                </a:solidFill>
                <a:latin typeface="微软雅黑"/>
              </a:defRPr>
            </a:pPr>
            <a:r>
              <a:t>完整代码 &amp; 文档：开源仓库 / 配套资源 ZIP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6692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5B4FC"/>
                </a:solidFill>
                <a:latin typeface="微软雅黑"/>
              </a:defRPr>
            </a:pPr>
            <a:r>
              <a:t>AI 辅助开发声明：本作品 85% 代码由 DeepSeek 辅助生成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3204</Words>
  <Application>WPS 文字</Application>
  <PresentationFormat>On-screen Show (4:3)</PresentationFormat>
  <Paragraphs>350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8" baseType="lpstr">
      <vt:lpstr>Arial</vt:lpstr>
      <vt:lpstr>宋体</vt:lpstr>
      <vt:lpstr>Wingdings</vt:lpstr>
      <vt:lpstr>Arial</vt:lpstr>
      <vt:lpstr>微软雅黑</vt:lpstr>
      <vt:lpstr>汉仪旗黑</vt:lpstr>
      <vt:lpstr>汉仪书宋二KW</vt:lpstr>
      <vt:lpstr>Calibri</vt:lpstr>
      <vt:lpstr>Helvetica Neue</vt:lpstr>
      <vt:lpstr>宋体</vt:lpstr>
      <vt:lpstr>微软雅黑</vt:lpstr>
      <vt:lpstr>Arial Unicode MS</vt:lpstr>
      <vt:lpstr>微软雅黑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ADM9X</cp:lastModifiedBy>
  <cp:revision>4</cp:revision>
  <dcterms:created xsi:type="dcterms:W3CDTF">2026-05-04T13:32:54Z</dcterms:created>
  <dcterms:modified xsi:type="dcterms:W3CDTF">2026-05-04T13:32:54Z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B9E20FB295C5BE41A59FF869F8DBFEBA_42</vt:lpwstr>
  </property>
  <property fmtid="{D5CDD505-2E9C-101B-9397-08002B2CF9AE}" pid="3" name="KSOProductBuildVer">
    <vt:lpwstr>2052-12.1.24031.24031</vt:lpwstr>
  </property>
</Properties>
</file>